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7"/>
  </p:notesMasterIdLst>
  <p:sldIdLst>
    <p:sldId id="2147474914" r:id="rId3"/>
    <p:sldId id="257" r:id="rId4"/>
    <p:sldId id="2147474916" r:id="rId5"/>
    <p:sldId id="261" r:id="rId6"/>
    <p:sldId id="256" r:id="rId7"/>
    <p:sldId id="260" r:id="rId8"/>
    <p:sldId id="264" r:id="rId9"/>
    <p:sldId id="265" r:id="rId10"/>
    <p:sldId id="2147474918" r:id="rId11"/>
    <p:sldId id="272" r:id="rId12"/>
    <p:sldId id="2147474924" r:id="rId13"/>
    <p:sldId id="259" r:id="rId14"/>
    <p:sldId id="2147474923" r:id="rId15"/>
    <p:sldId id="2147474920" r:id="rId16"/>
    <p:sldId id="2147474922" r:id="rId17"/>
    <p:sldId id="258" r:id="rId18"/>
    <p:sldId id="262" r:id="rId19"/>
    <p:sldId id="271" r:id="rId20"/>
    <p:sldId id="266" r:id="rId21"/>
    <p:sldId id="267" r:id="rId22"/>
    <p:sldId id="268" r:id="rId23"/>
    <p:sldId id="269" r:id="rId24"/>
    <p:sldId id="270" r:id="rId25"/>
    <p:sldId id="263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083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buNone/>
            </a:pPr>
            <a:r>
              <a:rPr lang="en-US" sz="1800" kern="1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D4EF5B-ECC8-43EE-A509-D601DDF42AD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kia Pure Text Ligh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kia Pure Text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24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N 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F9195A-055D-E83F-CE38-B86177170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Title 4">
            <a:extLst>
              <a:ext uri="{FF2B5EF4-FFF2-40B4-BE49-F238E27FC236}">
                <a16:creationId xmlns:a16="http://schemas.microsoft.com/office/drawing/2014/main" id="{F0180981-7B7F-4D9A-87AD-9608572279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1193" y="1907537"/>
            <a:ext cx="5354004" cy="16592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48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noProof="0"/>
              <a:t>Presentation</a:t>
            </a:r>
            <a:br>
              <a:rPr lang="en-US" noProof="0"/>
            </a:br>
            <a:r>
              <a:rPr lang="en-US" noProof="0"/>
              <a:t>Title (2 lines)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5C555545-3487-5A2F-B887-81AE17C806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81194" y="3782602"/>
            <a:ext cx="5354004" cy="78793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1pPr>
            <a:lvl2pPr marL="307192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867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2pPr>
            <a:lvl3pPr marL="616785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3pPr>
            <a:lvl4pPr marL="923977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333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4pPr>
            <a:lvl5pPr marL="1231169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5pPr>
            <a:lvl6pPr marL="1538362" indent="0">
              <a:spcBef>
                <a:spcPts val="0"/>
              </a:spcBef>
              <a:spcAft>
                <a:spcPts val="800"/>
              </a:spcAft>
              <a:buFont typeface="Nokia Pure Text" panose="020B0503020202020204" pitchFamily="34" charset="0"/>
              <a:buNone/>
              <a:defRPr sz="1067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845554" indent="0">
              <a:spcBef>
                <a:spcPts val="0"/>
              </a:spcBef>
              <a:spcAft>
                <a:spcPts val="800"/>
              </a:spcAft>
              <a:buNone/>
              <a:defRPr sz="933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2152746" indent="0">
              <a:spcBef>
                <a:spcPts val="0"/>
              </a:spcBef>
              <a:spcAft>
                <a:spcPts val="800"/>
              </a:spcAft>
              <a:buNone/>
              <a:defRPr sz="8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/>
              <a:t>Subtitle/Author</a:t>
            </a:r>
          </a:p>
        </p:txBody>
      </p:sp>
      <p:pic>
        <p:nvPicPr>
          <p:cNvPr id="5" name="Graphic 4" descr="Nokia logo">
            <a:extLst>
              <a:ext uri="{FF2B5EF4-FFF2-40B4-BE49-F238E27FC236}">
                <a16:creationId xmlns:a16="http://schemas.microsoft.com/office/drawing/2014/main" id="{BE221433-1813-8AC1-F1BE-4A8958FCA75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9971" y="5963488"/>
            <a:ext cx="1824000" cy="410995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B1E5D1B-6D7F-C600-7828-022D4F5709B7}"/>
              </a:ext>
            </a:extLst>
          </p:cNvPr>
          <p:cNvSpPr txBox="1">
            <a:spLocks/>
          </p:cNvSpPr>
          <p:nvPr userDrawn="1"/>
        </p:nvSpPr>
        <p:spPr>
          <a:xfrm>
            <a:off x="10445185" y="6478009"/>
            <a:ext cx="166712" cy="164212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1067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sz="1333" noProof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045E81-706E-BB14-3DDB-AC56D9F33518}"/>
              </a:ext>
            </a:extLst>
          </p:cNvPr>
          <p:cNvSpPr txBox="1"/>
          <p:nvPr userDrawn="1"/>
        </p:nvSpPr>
        <p:spPr>
          <a:xfrm>
            <a:off x="10793087" y="6478074"/>
            <a:ext cx="842111" cy="164148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1067" noProof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2026 Nokia</a:t>
            </a:r>
          </a:p>
        </p:txBody>
      </p:sp>
    </p:spTree>
    <p:extLst>
      <p:ext uri="{BB962C8B-B14F-4D97-AF65-F5344CB8AC3E}">
        <p14:creationId xmlns:p14="http://schemas.microsoft.com/office/powerpoint/2010/main" val="1707448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1.1.2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C5D894D9-59B0-426E-F4AB-C96661F483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D048D520-8858-4E4E-8511-3306272E38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5607" y="215779"/>
            <a:ext cx="11078400" cy="4542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AE9558-F65E-E57A-5394-E3FBBB881C02}"/>
              </a:ext>
            </a:extLst>
          </p:cNvPr>
          <p:cNvSpPr txBox="1"/>
          <p:nvPr userDrawn="1"/>
        </p:nvSpPr>
        <p:spPr>
          <a:xfrm>
            <a:off x="906705" y="6478074"/>
            <a:ext cx="842111" cy="164148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1067" noProof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2026 Nokia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92A02F9-A52E-683F-E045-1AFEBB2E5516}"/>
              </a:ext>
            </a:extLst>
          </p:cNvPr>
          <p:cNvSpPr txBox="1">
            <a:spLocks/>
          </p:cNvSpPr>
          <p:nvPr userDrawn="1"/>
        </p:nvSpPr>
        <p:spPr>
          <a:xfrm>
            <a:off x="558803" y="6478009"/>
            <a:ext cx="166712" cy="164212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1067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sz="1333" noProof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008A280-8EFA-5EB5-36A2-46FC8206AA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6427" y="6320612"/>
            <a:ext cx="1296000" cy="29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809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7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6FD3B6AD-A522-463F-BE21-3F3F3896E4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82063958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4" progId="TCLayout.ActiveDocument.1">
                  <p:embed/>
                </p:oleObj>
              </mc:Choice>
              <mc:Fallback>
                <p:oleObj name="think-cell Slide" r:id="rId6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6FD3B6AD-A522-463F-BE21-3F3F3896E4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7D0E1A0-C19A-4DB8-BA1F-3D71830D1A93}"/>
              </a:ext>
            </a:extLst>
          </p:cNvPr>
          <p:cNvSpPr txBox="1"/>
          <p:nvPr userDrawn="1"/>
        </p:nvSpPr>
        <p:spPr>
          <a:xfrm>
            <a:off x="1007701" y="6421172"/>
            <a:ext cx="2400000" cy="16421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1067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2025 Nokia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920C8E0-2BA3-45B9-8A9F-1B9E59157439}"/>
              </a:ext>
            </a:extLst>
          </p:cNvPr>
          <p:cNvSpPr txBox="1">
            <a:spLocks/>
          </p:cNvSpPr>
          <p:nvPr userDrawn="1"/>
        </p:nvSpPr>
        <p:spPr>
          <a:xfrm>
            <a:off x="558803" y="6421388"/>
            <a:ext cx="336000" cy="164212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1067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sz="1333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C5FB64-385A-4093-B8B2-2F00FF978275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968" y="6201336"/>
            <a:ext cx="1344149" cy="56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558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hf sldNum="0"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B0C60-139E-707C-97E8-3CE79D6270F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pPr fontAlgn="t"/>
            <a:br>
              <a:rPr lang="en-US" sz="2667" b="1"/>
            </a:br>
            <a:br>
              <a:rPr lang="en-US" sz="2667"/>
            </a:br>
            <a:br>
              <a:rPr lang="en-US" sz="2400" b="1"/>
            </a:br>
            <a:br>
              <a:rPr lang="en-US" sz="2400" b="1"/>
            </a:br>
            <a:br>
              <a:rPr lang="en-US" sz="2400" b="1"/>
            </a:br>
            <a:br>
              <a:rPr lang="en-US" sz="2400" b="1"/>
            </a:br>
            <a:br>
              <a:rPr lang="en-US" sz="2400" b="1"/>
            </a:br>
            <a:br>
              <a:rPr lang="en-US" sz="2400" b="1"/>
            </a:br>
            <a:br>
              <a:rPr lang="en-US" sz="1467" b="1">
                <a:solidFill>
                  <a:schemeClr val="tx1"/>
                </a:solidFill>
                <a:highlight>
                  <a:srgbClr val="FFFF00"/>
                </a:highlight>
              </a:rPr>
            </a:br>
            <a:br>
              <a:rPr lang="en-US" sz="1867" b="1">
                <a:highlight>
                  <a:srgbClr val="FFFF00"/>
                </a:highlight>
              </a:rPr>
            </a:br>
            <a:br>
              <a:rPr lang="en-US" sz="1867" b="1"/>
            </a:br>
            <a:br>
              <a:rPr lang="en-US" sz="1867" b="1"/>
            </a:br>
            <a:br>
              <a:rPr lang="en-US" sz="2400"/>
            </a:br>
            <a:endParaRPr lang="en-US" sz="2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B5B81-9584-2BB7-B747-4ED053B20636}"/>
              </a:ext>
            </a:extLst>
          </p:cNvPr>
          <p:cNvSpPr txBox="1">
            <a:spLocks/>
          </p:cNvSpPr>
          <p:nvPr/>
        </p:nvSpPr>
        <p:spPr>
          <a:xfrm>
            <a:off x="2477131" y="2621021"/>
            <a:ext cx="9438443" cy="2347335"/>
          </a:xfrm>
          <a:prstGeom prst="rect">
            <a:avLst/>
          </a:prstGeom>
        </p:spPr>
        <p:txBody>
          <a:bodyPr/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990" indent="-380990" defTabSz="914354">
              <a:spcBef>
                <a:spcPts val="1000"/>
              </a:spcBef>
              <a:buFontTx/>
              <a:buChar char="-"/>
            </a:pPr>
            <a:endParaRPr lang="en-US" sz="2400">
              <a:solidFill>
                <a:prstClr val="black"/>
              </a:solidFill>
              <a:latin typeface="Nokia Pure Text Light"/>
            </a:endParaRPr>
          </a:p>
          <a:p>
            <a:pPr marL="609585" indent="-609585" defTabSz="914354">
              <a:spcBef>
                <a:spcPts val="1000"/>
              </a:spcBef>
              <a:buFont typeface="Arial" panose="020B0604020202020204"/>
              <a:buChar char="•"/>
            </a:pPr>
            <a:endParaRPr lang="en-US" sz="4267">
              <a:solidFill>
                <a:prstClr val="black"/>
              </a:solidFill>
              <a:latin typeface="Nokia Pure Text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85B08E-EC80-B69A-2E35-118CE8D54986}"/>
              </a:ext>
            </a:extLst>
          </p:cNvPr>
          <p:cNvSpPr txBox="1"/>
          <p:nvPr/>
        </p:nvSpPr>
        <p:spPr>
          <a:xfrm>
            <a:off x="6884896" y="780422"/>
            <a:ext cx="5307105" cy="19420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585"/>
            <a:r>
              <a:rPr lang="en-US" sz="4400" b="1" dirty="0" err="1">
                <a:solidFill>
                  <a:prstClr val="white"/>
                </a:solidFill>
                <a:latin typeface="Nokia Pure Text Light"/>
              </a:rPr>
              <a:t>CrowdTrack</a:t>
            </a:r>
            <a:r>
              <a:rPr lang="en-US" sz="4400" b="1" dirty="0">
                <a:solidFill>
                  <a:prstClr val="white"/>
                </a:solidFill>
                <a:latin typeface="Nokia Pure Text Light"/>
              </a:rPr>
              <a:t> – </a:t>
            </a:r>
            <a:r>
              <a:rPr lang="en-US" sz="4400" b="1" dirty="0" err="1">
                <a:solidFill>
                  <a:prstClr val="white"/>
                </a:solidFill>
                <a:latin typeface="Nokia Pure Text Light"/>
              </a:rPr>
              <a:t>rAPP</a:t>
            </a:r>
            <a:endParaRPr lang="en-US" sz="4400" b="1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r>
              <a:rPr lang="en-US" sz="2800" b="1" dirty="0">
                <a:solidFill>
                  <a:prstClr val="white"/>
                </a:solidFill>
                <a:latin typeface="Nokia Pure Text Light"/>
              </a:rPr>
              <a:t>Autonomous Networks</a:t>
            </a:r>
          </a:p>
          <a:p>
            <a:pPr defTabSz="609585"/>
            <a:endParaRPr lang="en-US" sz="4400" b="1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4400" b="1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4400" b="1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4400" b="1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4400" b="1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4400" b="1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r>
              <a:rPr lang="en-US" sz="2000" b="1" dirty="0">
                <a:solidFill>
                  <a:prstClr val="white"/>
                </a:solidFill>
                <a:latin typeface="Nokia Pure Text Light"/>
              </a:rPr>
              <a:t>Sireen Malik</a:t>
            </a:r>
            <a:br>
              <a:rPr lang="en-US" sz="2000" b="1" dirty="0">
                <a:solidFill>
                  <a:prstClr val="white"/>
                </a:solidFill>
                <a:latin typeface="Nokia Pure Text Light"/>
              </a:rPr>
            </a:br>
            <a:r>
              <a:rPr lang="en-US" sz="2000" b="1" dirty="0">
                <a:solidFill>
                  <a:prstClr val="white"/>
                </a:solidFill>
                <a:latin typeface="Nokia Pure Text Light"/>
              </a:rPr>
              <a:t>08/27/2026</a:t>
            </a:r>
            <a:endParaRPr lang="en-US" sz="2800" b="1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5400" b="1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5400" b="1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6000" b="1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4800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4800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4800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4800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4800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4800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4800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4800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4800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4800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4800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4800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endParaRPr lang="en-US" sz="4800" dirty="0">
              <a:solidFill>
                <a:prstClr val="white"/>
              </a:solidFill>
              <a:latin typeface="Nokia Pure Text Light"/>
            </a:endParaRPr>
          </a:p>
          <a:p>
            <a:pPr defTabSz="609585"/>
            <a:r>
              <a:rPr lang="en-US" sz="4000" dirty="0">
                <a:solidFill>
                  <a:prstClr val="white"/>
                </a:solidFill>
                <a:latin typeface="Nokia Pure Text Light"/>
              </a:rPr>
              <a:t>Sireen Malik</a:t>
            </a:r>
            <a:br>
              <a:rPr lang="en-US" sz="4000" dirty="0">
                <a:solidFill>
                  <a:prstClr val="white"/>
                </a:solidFill>
                <a:latin typeface="Nokia Pure Text Light"/>
              </a:rPr>
            </a:br>
            <a:r>
              <a:rPr lang="en-US" sz="4000" dirty="0">
                <a:solidFill>
                  <a:prstClr val="white"/>
                </a:solidFill>
                <a:latin typeface="Nokia Pure Text Light"/>
              </a:rPr>
              <a:t>Jan 23</a:t>
            </a:r>
            <a:r>
              <a:rPr lang="en-US" sz="4000" baseline="30000" dirty="0">
                <a:solidFill>
                  <a:prstClr val="white"/>
                </a:solidFill>
                <a:latin typeface="Nokia Pure Text Light"/>
              </a:rPr>
              <a:t>rd</a:t>
            </a:r>
            <a:r>
              <a:rPr lang="en-US" sz="4000" dirty="0">
                <a:solidFill>
                  <a:prstClr val="white"/>
                </a:solidFill>
                <a:latin typeface="Nokia Pure Text Light"/>
              </a:rPr>
              <a:t>, 2026APP - </a:t>
            </a:r>
          </a:p>
        </p:txBody>
      </p:sp>
    </p:spTree>
    <p:extLst>
      <p:ext uri="{BB962C8B-B14F-4D97-AF65-F5344CB8AC3E}">
        <p14:creationId xmlns:p14="http://schemas.microsoft.com/office/powerpoint/2010/main" val="1827965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8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16016"/>
            <a:ext cx="3566160" cy="420624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544616"/>
            <a:ext cx="502920" cy="50292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44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5446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E3A"/>
                </a:solidFill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276136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1E3A"/>
                </a:solidFill>
                <a:ea typeface="Calibri" pitchFamily="34" charset="-122"/>
                <a:cs typeface="Calibri" pitchFamily="34" charset="-120"/>
              </a:rPr>
              <a:t>A dense sector has 5 uplink beams pointed at fixed azimuths. Per-beam UE counts arrive every second. The rApp must decide where to point the fan next, and when to widen or split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316016"/>
            <a:ext cx="3566160" cy="420624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544616"/>
            <a:ext cx="502920" cy="50292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544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49240" y="15446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E3A"/>
                </a:solidFill>
                <a:ea typeface="Cambria" pitchFamily="34" charset="-122"/>
                <a:cs typeface="Cambria" pitchFamily="34" charset="-120"/>
              </a:rPr>
              <a:t>The goal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2276136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1E3A"/>
                </a:solidFill>
                <a:ea typeface="Calibri" pitchFamily="34" charset="-122"/>
                <a:cs typeface="Calibri" pitchFamily="34" charset="-120"/>
              </a:rPr>
              <a:t>Turn the base model into a rApp that reads per-beam counts and emits one JSON object: fan_center, tilt, action, reason. Nothing else. Every second. Deterministic.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316016"/>
            <a:ext cx="3566160" cy="420624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0" y="1544616"/>
            <a:ext cx="502920" cy="50292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03920" y="1544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89720" y="15446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E3A"/>
                </a:solidFill>
                <a:ea typeface="Cambria" pitchFamily="34" charset="-122"/>
                <a:cs typeface="Cambria" pitchFamily="34" charset="-120"/>
              </a:rPr>
              <a:t>The success test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276136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1E3A"/>
                </a:solidFill>
                <a:ea typeface="Calibri" pitchFamily="34" charset="-122"/>
                <a:cs typeface="Calibri" pitchFamily="34" charset="-120"/>
              </a:rPr>
              <a:t>On a held-out tick, the trained model returns valid JSON, within schema bounds, matching the count-weighted centroid. Formatter tool stays on as the safety net either way.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836021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Inference is one second cadence, temperature 0. Loop stays gated by a Python policy engine.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98DE207-CBD2-D989-6F40-5EC17BC331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607" y="101002"/>
            <a:ext cx="11078400" cy="454205"/>
          </a:xfrm>
        </p:spPr>
        <p:txBody>
          <a:bodyPr/>
          <a:lstStyle/>
          <a:p>
            <a:r>
              <a:rPr lang="en-US" dirty="0">
                <a:latin typeface="+mn-lt"/>
              </a:rPr>
              <a:t>.</a:t>
            </a:r>
            <a:r>
              <a:rPr lang="en-US" i="1" dirty="0">
                <a:ea typeface="Calibri" pitchFamily="34" charset="-122"/>
                <a:cs typeface="Calibri" pitchFamily="34" charset="-120"/>
              </a:rPr>
              <a:t>Crowd-following</a:t>
            </a:r>
            <a:r>
              <a:rPr lang="en-US" i="1" dirty="0">
                <a:solidFill>
                  <a:srgbClr val="5B6B84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>
                <a:ea typeface="Calibri" pitchFamily="34" charset="-122"/>
                <a:cs typeface="Calibri" pitchFamily="34" charset="-120"/>
              </a:rPr>
              <a:t>uplink beam management </a:t>
            </a:r>
            <a:r>
              <a:rPr lang="en-US" i="1" dirty="0" err="1">
                <a:ea typeface="Calibri" pitchFamily="34" charset="-122"/>
                <a:cs typeface="Calibri" pitchFamily="34" charset="-120"/>
              </a:rPr>
              <a:t>rApp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879" y="-2599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CrowdTrack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rAPP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6836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 LLM rApp that points the uplink beam ahead of a moving crowd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60785" y="1483659"/>
            <a:ext cx="108813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/home/claude/deck/arc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4026" y="1666539"/>
            <a:ext cx="10145358" cy="3794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50705" y="5827059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C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ea typeface="Cambria" pitchFamily="34" charset="-122"/>
                <a:cs typeface="Cambria" pitchFamily="34" charset="-120"/>
              </a:rPr>
              <a:t>Why the base model was not enough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The model knew the concept. It could not hold the contract.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920240"/>
          </a:xfrm>
          <a:prstGeom prst="rect">
            <a:avLst/>
          </a:prstGeom>
          <a:solidFill>
            <a:srgbClr val="FCEBEA"/>
          </a:solidFill>
          <a:ln w="12700">
            <a:solidFill>
              <a:srgbClr val="F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B2C2C"/>
                </a:solidFill>
                <a:ea typeface="Calibri" pitchFamily="34" charset="-122"/>
                <a:cs typeface="Calibri" pitchFamily="34" charset="-120"/>
              </a:rPr>
              <a:t>BASE MODEL, PROMPTED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ea typeface="Courier New" pitchFamily="34" charset="-122"/>
                <a:cs typeface="Courier New" pitchFamily="34" charset="-120"/>
              </a:rPr>
              <a:t>Based on the beam counts, I think the crowd is moving to the right, so we should shift the fan. Here you go: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ea typeface="Courier New" pitchFamily="34" charset="-122"/>
                <a:cs typeface="Courier New" pitchFamily="34" charset="-120"/>
              </a:rPr>
              <a:t>{"beam_target": 40, "reason": "move towards crowd"}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486400" cy="1920240"/>
          </a:xfrm>
          <a:prstGeom prst="rect">
            <a:avLst/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B5E3F"/>
                </a:solidFill>
                <a:ea typeface="Calibri" pitchFamily="34" charset="-122"/>
                <a:cs typeface="Calibri" pitchFamily="34" charset="-120"/>
              </a:rPr>
              <a:t>BASE MODEL + LoRA, VALUES ENVELOPE TO TOOL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ea typeface="Courier New" pitchFamily="34" charset="-122"/>
                <a:cs typeface="Courier New" pitchFamily="34" charset="-120"/>
              </a:rPr>
              <a:t>{"fan_center": 40, "tilt": 25, "action": "follow", "reason": "leading the crowd toward the count-weighted centroid"}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33375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5E3F"/>
                </a:solidFill>
                <a:ea typeface="Calibri" pitchFamily="34" charset="-122"/>
                <a:cs typeface="Calibri" pitchFamily="34" charset="-120"/>
              </a:rPr>
              <a:t>Tool clamps, drops reason, formats to SMO wire.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11247120" cy="47548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8862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ea typeface="Calibri" pitchFamily="34" charset="-122"/>
                <a:cs typeface="Calibri" pitchFamily="34" charset="-120"/>
              </a:rPr>
              <a:t>Format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88620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ea typeface="Calibri" pitchFamily="34" charset="-122"/>
                <a:cs typeface="Calibri" pitchFamily="34" charset="-120"/>
              </a:rPr>
              <a:t>Base model wraps JSON in prose. Adapter emits JSON only, every time.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36168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Schema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17520" y="43616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Base model invents keys (beam_target). Adapter locks in exact schema (fan_center, tilt, action, reason).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11247120" cy="47548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83717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ea typeface="Calibri" pitchFamily="34" charset="-122"/>
                <a:cs typeface="Calibri" pitchFamily="34" charset="-120"/>
              </a:rPr>
              <a:t>Value ranges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837176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ea typeface="Calibri" pitchFamily="34" charset="-122"/>
                <a:cs typeface="Calibri" pitchFamily="34" charset="-120"/>
              </a:rPr>
              <a:t>Base model has no idea about -49..49 or 3..45 bounds. Adapter stays in-range.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31266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Determinism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017520" y="531266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Base model outputs vary per call, even at temperature 0. Adapter emits the same shape reliably.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5788152"/>
            <a:ext cx="11247120" cy="47548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578815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ea typeface="Calibri" pitchFamily="34" charset="-122"/>
                <a:cs typeface="Calibri" pitchFamily="34" charset="-120"/>
              </a:rPr>
              <a:t>Latency+cost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578815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ea typeface="Calibri" pitchFamily="34" charset="-122"/>
                <a:cs typeface="Calibri" pitchFamily="34" charset="-120"/>
              </a:rPr>
              <a:t>Frontier API call: ~500 ms and $. Local Model + adapter, FP4 quantized: ~0.7 s warm, zero marginal cost.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ea typeface="Calibri" pitchFamily="34" charset="-122"/>
                <a:cs typeface="Calibri" pitchFamily="34" charset="-120"/>
              </a:rPr>
              <a:t>Prompt engineering gets you 70%. LoRA bakes the last 30% into the weights, so it holds at 1 second cadence.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41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2493981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Fine Tuning (LORA)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600" y="3591261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model to steer uplink beams as JSON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Sireen Malik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63093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of 2  |  Nemotron Nano 4B on GPU is Path 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adapter fits in the rApp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Non-determinism fenced inside a Python tool boundary. SMO only sees clamped numbers.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2926080" cy="365760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Model+ LoRA adapter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2560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per-beam counts.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a values envelope in JSON: fan_center, tilt, action, reason.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inference per tick.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speaks to SMO.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657600" cy="36576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formatter + policy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Validates, cages, formats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273552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3273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324612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JSON, reject if malformed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602736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357530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check, reject unknown keys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931920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9044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fan_center to -49..49, tilt to 3..45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4261104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4261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42336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smooth trajectory (smoothing only)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4590288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4590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456285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reason into audit log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4919472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4919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48920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SMO wire JSON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326880" y="1828800"/>
            <a:ext cx="2651760" cy="365760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50976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09760" y="2331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Management + Orchestration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0976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509760" y="342900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clamped numeric setpoints in the wire contract (A1, O1, or R1).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LLM output.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the reason field.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non-deterministic text.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383280" y="3657600"/>
            <a:ext cx="1005840" cy="0"/>
          </a:xfrm>
          <a:prstGeom prst="line">
            <a:avLst/>
          </a:prstGeom>
          <a:noFill/>
          <a:ln w="38100">
            <a:solidFill>
              <a:schemeClr val="bg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9184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envelope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329184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(internal)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29600" y="3657600"/>
            <a:ext cx="1005840" cy="0"/>
          </a:xfrm>
          <a:prstGeom prst="line">
            <a:avLst/>
          </a:prstGeom>
          <a:noFill/>
          <a:ln w="38100">
            <a:solidFill>
              <a:schemeClr val="bg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13816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 wire JSON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813816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(numbers only)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54864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proposes values inside a Python tool boundary. The tool builds every wire message that hits SMO. Non-determinism never leaves the tool.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43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the edge model fast: two different operations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changes the structure. Quantize changes the precision. They solve different problems.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532120" cy="320040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 pieces into 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STRUCTURE, not speed.
</a:t>
            </a:r>
            <a:r>
              <a:rPr lang="en-US" sz="12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 Base Model +  beam-lora adapter  =  2 files
After:   one combined model  =  1 file
</a:t>
            </a:r>
            <a:r>
              <a:rPr lang="en-US" sz="12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Precision unchanged. Size roughly the same. Does NOT retrain. Folds the adapter's math permanently into the base weights.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5532120" cy="32004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15544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18288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Quantize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37960" y="23774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every number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PRECISION, not structure.
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 each weight stored in 32 bits (FP32)
After:   each weight stored in 4 bits  (FP4)
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unchanged, still one model, same knowledge. 8x smaller. Does NOT retrain. Re-encodes the finished numbers at lower precision.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247120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91032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Analogy.  </a:t>
            </a:r>
            <a:r>
              <a:rPr lang="en-US" sz="13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presses a sandwich (bread + filling) into one wrapped unit, same ingredients, one object. Quantize then vacuum-seals it to one-eighth the size, same sandwich, compact and fast to carry. Merge is the prep; quantize is the payoff.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operation retrains the model or changes what it knows. The trained skill in the LoRA adapter is preserved through both.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0364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do this for the beam rApp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3900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rApp decides every tick. Inference latency is the whole game at the edge.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 today, and after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86400" cy="914400"/>
          </a:xfrm>
          <a:prstGeom prst="rect">
            <a:avLst/>
          </a:prstGeom>
          <a:solidFill>
            <a:srgbClr val="FCEBEA"/>
          </a:solidFill>
          <a:ln w="12700">
            <a:solidFill>
              <a:srgbClr val="F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on PyTorch (serve.py)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~4.6 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56616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slower than tick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5486400" cy="914400"/>
          </a:xfrm>
          <a:prstGeom prst="rect">
            <a:avLst/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0998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FP4 on Ollama, cold start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4015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~2.4 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34015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call, model loads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5486400" cy="914400"/>
          </a:xfrm>
          <a:prstGeom prst="rect">
            <a:avLst/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1239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FP4 on Ollama, warm (steady)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44256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~0.7 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44256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every tick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here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 cadence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0" y="22402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rApp proposes a beam setpoint every tick. If inference is slower than the tick, the beam always acts on stale crowd positions and visibly lags.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0" y="29900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Edge, not cloud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0" y="326440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point of this build is on-device, zero token cost. A CPU laptop has no GPU to hide behind, so precision is the lever that buys speed.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40142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decision stays zero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428853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Quantizing keeps everything local. No API, no per-token spend. Faster AND free, versus a frontier API that is fast but metered.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0" y="50383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trained skill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0" y="531266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beam-following behavior lives in the adapter. Merge and quantize preserve it. We get speed without giving up the tuning.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5806440"/>
            <a:ext cx="11247120" cy="6858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then quantize took inference from ~4.6 s to ~0.7 s warm, a measured 6 to 7x speedup, zero token cost. Same trained model, production-fast.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-80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Public Safety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587637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Because the network already sees the crowd, it can recognize when something goes wrong.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16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2240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8A1E"/>
                </a:solidFill>
                <a:ea typeface="Cambria" pitchFamily="34" charset="-122"/>
                <a:cs typeface="Cambria" pitchFamily="34" charset="-120"/>
              </a:rPr>
              <a:t>The panic signature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88036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Normal crowd — center moves, spread steady.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Panic — center stays put, spread explodes outward (radial flee from a point).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Detectable in the counts: velocity ≈ 0 while spread rises fast.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Grounded in crowd-dynamics research (radial dispersal, polar binning).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16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2940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8A1E"/>
                </a:solidFill>
                <a:ea typeface="Cambria" pitchFamily="34" charset="-122"/>
                <a:cs typeface="Cambria" pitchFamily="34" charset="-120"/>
              </a:rPr>
              <a:t>The response, safely gated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29400" y="2880360"/>
            <a:ext cx="4617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Reversible — widen and re-tilt beams to hold coverage. Automatic.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Irreversible — notify emergency services. Human confirms first.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This escalation judgment is exactly what the LLM is for, not the tracker.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Coverage signal, not a gunshot detector — it reads the crowd's response.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Reversible actions run on their own · irreversible actions wait for a human. Same discipline, top to bottom.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C"/>
                </a:solidFill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5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CROWD ANOMALY CUEING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mbria" pitchFamily="34" charset="-122"/>
                <a:cs typeface="Cambria" pitchFamily="34" charset="-120"/>
              </a:rPr>
              <a:t>Designed around the swarm-analytics patent, by construction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The prior-art claim tracks device locations and auto-notifies responders. Our flow uses aggregate RAN telemetry, keeps a human in the loop, and acts first as coverage optimization.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5074920" cy="384048"/>
          </a:xfrm>
          <a:prstGeom prst="rect">
            <a:avLst/>
          </a:prstGeom>
          <a:solidFill>
            <a:srgbClr val="8A2B24"/>
          </a:solidFill>
          <a:ln w="12700">
            <a:solidFill>
              <a:srgbClr val="8A2B2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52704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PRIOR-ART PATENT  (US 10,032,361, swarm analytics)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806440" y="1527048"/>
            <a:ext cx="5943600" cy="384048"/>
          </a:xfrm>
          <a:prstGeom prst="rect">
            <a:avLst/>
          </a:prstGeom>
          <a:solidFill>
            <a:srgbClr val="1B5E3F"/>
          </a:solidFill>
          <a:ln w="12700">
            <a:solidFill>
              <a:srgbClr val="1B5E3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0" y="152704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OUR APPROACH  (Crowd Anomaly Cueing)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1984248"/>
            <a:ext cx="5074920" cy="786384"/>
          </a:xfrm>
          <a:prstGeom prst="rect">
            <a:avLst/>
          </a:prstGeom>
          <a:solidFill>
            <a:srgbClr val="FBEBEA"/>
          </a:solidFill>
          <a:ln w="12700">
            <a:solidFill>
              <a:srgbClr val="FBEB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1984248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A2B24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1.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Ingest collective real-time device location data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806440" y="1984248"/>
            <a:ext cx="5943600" cy="786384"/>
          </a:xfrm>
          <a:prstGeom prst="rect">
            <a:avLst/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0" y="1984248"/>
            <a:ext cx="5669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✓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Ingest aggregate RAN beam telemetry only: per-beam UE counts, centroid, spread. No device location tracking.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2825496"/>
            <a:ext cx="5074920" cy="786384"/>
          </a:xfrm>
          <a:prstGeom prst="rect">
            <a:avLst/>
          </a:prstGeom>
          <a:solidFill>
            <a:srgbClr val="FBEBEA"/>
          </a:solidFill>
          <a:ln w="12700">
            <a:solidFill>
              <a:srgbClr val="FBEB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2825496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A2B24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2.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Detect movement of the group away from a central point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806440" y="2825496"/>
            <a:ext cx="5943600" cy="786384"/>
          </a:xfrm>
          <a:prstGeom prst="rect">
            <a:avLst/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0" y="2825496"/>
            <a:ext cx="5669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✓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Detect an abnormal change in the count distribution across beams (spread rising, centroid velocity). A shape change, not device motion from a point.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666744"/>
            <a:ext cx="5074920" cy="786384"/>
          </a:xfrm>
          <a:prstGeom prst="rect">
            <a:avLst/>
          </a:prstGeom>
          <a:solidFill>
            <a:srgbClr val="FBEBEA"/>
          </a:solidFill>
          <a:ln w="12700">
            <a:solidFill>
              <a:srgbClr val="FBEB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" y="3666744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A2B24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3.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Classify the pattern as a threat condition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806440" y="3666744"/>
            <a:ext cx="5943600" cy="786384"/>
          </a:xfrm>
          <a:prstGeom prst="rect">
            <a:avLst/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943600" y="3666744"/>
            <a:ext cx="5669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✓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Do not classify as a threat. Flag an anomaly only. The network sees an effect, never claims a cause.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4507992"/>
            <a:ext cx="5074920" cy="786384"/>
          </a:xfrm>
          <a:prstGeom prst="rect">
            <a:avLst/>
          </a:prstGeom>
          <a:solidFill>
            <a:srgbClr val="FBEBEA"/>
          </a:solidFill>
          <a:ln w="12700">
            <a:solidFill>
              <a:srgbClr val="FBEB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85800" y="4507992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A2B24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4.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Automatically notify a first responder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806440" y="4507992"/>
            <a:ext cx="5943600" cy="786384"/>
          </a:xfrm>
          <a:prstGeom prst="rect">
            <a:avLst/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43600" y="4507992"/>
            <a:ext cx="5669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✓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Raise an advisory flag to the network operator, and cue a camera. Human verifies. Never auto-notifies a responder, never auto-dispatches.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5074920" cy="566928"/>
          </a:xfrm>
          <a:prstGeom prst="rect">
            <a:avLst/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5800" y="534924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9AA3B2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(no equivalent step)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806440" y="5349240"/>
            <a:ext cx="5943600" cy="566928"/>
          </a:xfrm>
          <a:prstGeom prst="rect">
            <a:avLst/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43600" y="534924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8A5A00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+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Primary action is coverage assurance: widen or re-steer beams (O-RAN A1/O1 intent) to keep the dispersing crowd connected. A network-optimization action, outside the patent's scope entirely.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6044184"/>
            <a:ext cx="11201400" cy="658368"/>
          </a:xfrm>
          <a:prstGeom prst="rect">
            <a:avLst/>
          </a:prstGeom>
          <a:solidFill>
            <a:srgbClr val="071E44"/>
          </a:solidFill>
          <a:ln w="12700">
            <a:solidFill>
              <a:srgbClr val="071E4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77240" y="6117336"/>
            <a:ext cx="1074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For legal review: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Calibri" pitchFamily="34" charset="-122"/>
                <a:cs typeface="Calibri" pitchFamily="34" charset="-120"/>
              </a:rPr>
              <a:t>confirm the input is aggregate RAN telemetry, not device-location data; confirm actuation is operator-advisory plus coverage optimization, never auto-notification of a responder. Not an FTO opinion, run the actual claims past Nokia IP before build or external pitch.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E742E1-D141-BCAA-4C62-76E90EB2D1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607" y="2573496"/>
            <a:ext cx="11078400" cy="454205"/>
          </a:xfrm>
        </p:spPr>
        <p:txBody>
          <a:bodyPr/>
          <a:lstStyle/>
          <a:p>
            <a:r>
              <a:rPr lang="en-US" dirty="0"/>
              <a:t>…last slide</a:t>
            </a:r>
          </a:p>
        </p:txBody>
      </p:sp>
    </p:spTree>
    <p:extLst>
      <p:ext uri="{BB962C8B-B14F-4D97-AF65-F5344CB8AC3E}">
        <p14:creationId xmlns:p14="http://schemas.microsoft.com/office/powerpoint/2010/main" val="1365612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learns from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 becomes a 3 turn chat: rules, counts, answer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132320" cy="14173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on every tick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Non-RT RIC rApp steering a fan of uplink beams to follow a moving crowd. You are given per-beam UE counts and the current beam config. Return ONLY one JSON object with keys: fan_center (-49..49), tilt (3..45), action (follow|widen|allocate), reason (short). No prose, no thinking, JSON only.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7132320" cy="105156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3383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tick 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per_beam_counts=[1, 4, 12, 6, 2] (beam azimuths [-40, -20, 0, 20, 40] deg); current fan_center=0, tilt=20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7132320" cy="123444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4572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the model learns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93776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{"fan_center": 0, "tilt": 25, "action": "follow", "reason": "leading the crowd toward the count-weighted centroid"}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config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5528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4692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0" y="2441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lora_alpha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46920" y="2441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5280" y="2734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lora_dropout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46920" y="2734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3026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46920" y="3026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0" y="3319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task_type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46920" y="3319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CAUSAL_LM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target_modules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4692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q,k,v,o + MLP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args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955280" y="4434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4692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55280" y="4727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batch_size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4692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55280" y="5020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grad_accum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46920" y="5020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55280" y="5312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46920" y="5312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2e-4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55280" y="5605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max_len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46920" y="5605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55280" y="5897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use_cpu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46920" y="5897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apply_chat_template renders the 3 messages into Qwen ChatML, tokenized as one causal LM sequence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Perception, inputs, and honest accuracy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rApp receives, what it derives, and where accuracy is really bounded.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F4F8FA"/>
          </a:solidFill>
          <a:ln w="12700">
            <a:solidFill>
              <a:srgbClr val="EA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 — deterministic, in-loop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48920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0E2A47"/>
                </a:solidFill>
              </a:rPr>
              <a:t>Received from SMO: </a:t>
            </a:r>
            <a:endParaRPr lang="en-US" dirty="0"/>
          </a:p>
          <a:p>
            <a:pPr marL="0" indent="0">
              <a:buNone/>
            </a:pPr>
            <a:r>
              <a:rPr lang="en-US" sz="1050" dirty="0">
                <a:solidFill>
                  <a:srgbClr val="3B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per-beam UE counts (KPM)    loop.js:40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B5566"/>
                </a:solidFill>
              </a:rPr>
              <a:t>• current beam config (fan, tilt)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E2A47"/>
                </a:solidFill>
              </a:rPr>
              <a:t>Derived by the rApp: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centroid + spread   loop.js:44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smoothed vel (Kalman)   loop.js:45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chaos flag   loop.js:48-52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split flag   loop.js:54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F4F8FA"/>
          </a:solidFill>
          <a:ln w="12700">
            <a:solidFill>
              <a:srgbClr val="EA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4652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Richer inputs — value if added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057400"/>
            <a:ext cx="48920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</a:rPr>
              <a:t>AoA / timing (per-UE angle)</a:t>
            </a:r>
            <a:endParaRPr lang="en-US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B5566"/>
                </a:solidFill>
              </a:rPr>
              <a:t>  the real lever for azimuth accuracy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E2A47"/>
                </a:solidFill>
              </a:rPr>
              <a:t>PRB util / SINR per beam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B5566"/>
                </a:solidFill>
              </a:rPr>
              <a:t>  improves load + quality, not azimuth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0322B"/>
                </a:solidFill>
              </a:rPr>
              <a:t>RSRP per beam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B5566"/>
                </a:solidFill>
              </a:rPr>
              <a:t>  tested — no gain on disjoint beams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10881360" cy="1874520"/>
          </a:xfrm>
          <a:prstGeom prst="roundRect">
            <a:avLst>
              <a:gd name="adj" fmla="val 3902"/>
            </a:avLst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Talking points for the radio audience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resolution-bound.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beams set a hard floor no signal removes — more beams or AoA is the lever, not more aggregate KPIs.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alone are enough to follow.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centroid is directionally and speed-faithful; quantization stair-step is absorbed by Kalman; beam width covers the residual.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accuracy % without measurement.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signals → 100%" is false. We offer an eval harness to produce real per-configuration numbers in degrees.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valid JSON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4" name="Image 0" descr="/home/claude/deck/json_f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600200"/>
            <a:ext cx="1088136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89204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4F8FA"/>
          </a:solidFill>
          <a:ln w="12700">
            <a:solidFill>
              <a:srgbClr val="EA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96112" y="5129784"/>
            <a:ext cx="237744" cy="237744"/>
          </a:xfrm>
          <a:prstGeom prst="ellipse">
            <a:avLst/>
          </a:prstGeom>
          <a:solidFill>
            <a:srgbClr val="B03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243584" y="503834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model tuning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5495544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to fix formatting is slow, costly, and brittle. It treats a design problem as a training problem. We don't reach for it here.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80560" y="489204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4F8FA"/>
          </a:solidFill>
          <a:ln w="12700">
            <a:solidFill>
              <a:srgbClr val="EA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36592" y="5129784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84064" y="503834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tool in front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54880" y="5495544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emits parameters only — a few numbers. A deterministic Python formatter builds the SMO's exact JSON. The model can't break a schema it never writes.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321040" y="489204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4F8FA"/>
          </a:solidFill>
          <a:ln w="12700">
            <a:solidFill>
              <a:srgbClr val="EA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577072" y="5129784"/>
            <a:ext cx="237744" cy="237744"/>
          </a:xfrm>
          <a:prstGeom prst="ellipse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924544" y="503834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Directionally an agent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95360" y="5495544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agent pattern used for correctness: the model decides, deterministic code executes. Wrap it in a validate-and-clamp gate and output is valid by construction.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65379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 </a:t>
            </a:r>
            <a:r>
              <a:rPr lang="en-US" sz="12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success rate is ~100% regardless of the model's raw JSON score. A bad generation falls back to deterministic — never breaks the loop.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· Skill · Contract · Rules — and where they live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static → set once in the prompt template. One file: src/model.js, function buildPrompt().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4F8FA"/>
          </a:solidFill>
          <a:ln w="12700">
            <a:solidFill>
              <a:srgbClr val="EA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728" cy="786384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6733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0025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3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model.js:16  </a:t>
            </a: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pre-loop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06240" y="1655064"/>
            <a:ext cx="7132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Non-RT RIC rApp steering a fan of uplink beams to follow a moving crowd.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496312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4F8FA"/>
          </a:solidFill>
          <a:ln w="12700">
            <a:solidFill>
              <a:srgbClr val="EA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109728" cy="786384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56946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(output format)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28986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3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model.js:20-24  </a:t>
            </a: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pre-loop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06240" y="2551176"/>
            <a:ext cx="7132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ONLY JSON: fan_center (-49..49), tilt (3..45), action, reason. The model emits numbers only.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4F8FA"/>
          </a:solidFill>
          <a:ln w="12700">
            <a:solidFill>
              <a:srgbClr val="EA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3392424"/>
            <a:ext cx="109728" cy="786384"/>
          </a:xfrm>
          <a:prstGeom prst="rect">
            <a:avLst/>
          </a:prstGeom>
          <a:solidFill>
            <a:srgbClr val="3B55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465576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(three + tilt)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3794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3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model.js:37-41  </a:t>
            </a: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pre-loop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6240" y="3447288"/>
            <a:ext cx="7132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= lead ahead · widen = spread rising + centroid still · allocate = load split.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288536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4F8FA"/>
          </a:solidFill>
          <a:ln w="12700">
            <a:solidFill>
              <a:srgbClr val="EA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" y="4288536"/>
            <a:ext cx="109728" cy="786384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436168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(the format task)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4690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3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formatter.js  </a:t>
            </a: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in-loop tool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06240" y="4343400"/>
            <a:ext cx="7132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prompt instruction — a deterministic tool builds/clamps the JSON. Guaranteed valid.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184648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4F8FA"/>
          </a:solidFill>
          <a:ln w="12700">
            <a:solidFill>
              <a:srgbClr val="EA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" y="5184648"/>
            <a:ext cx="109728" cy="786384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5257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0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68680" y="55869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3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model.js:63 / 91  </a:t>
            </a: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 call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06240" y="5239512"/>
            <a:ext cx="7132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decoding — same input, same output. Deterministic beam decisions.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split: </a:t>
            </a:r>
            <a:r>
              <a:rPr lang="en-US" sz="12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contract, rules are the static prompt (pre-loop). The skill is the formatter tool, which runs in-loop every tick.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open source, everything runs on a dual core CPU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680960" cy="65836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8288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Qwen2.5-0.5B-Instruct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57800" y="182880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2.0, 494M params, chat template built 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method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248716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 via HuggingFace peft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57800" y="2487168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1-2% params train, adapter is tens of MB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7680960" cy="65836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14553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314553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PyTorch 2.x, CPU wheel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3145536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GPU, no bitsandbytes, no cloud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8039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38039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transformers.Trainer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0" y="380390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use_cpu=True, fp32, standard causal LM loop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462272"/>
            <a:ext cx="7680960" cy="65836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44622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446227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datasets.Dataset.from_list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446227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JSONs -&gt; chat examples -&gt; tokenized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51206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51206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adapter_model.safetensors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512064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 top of base model at inference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1828800"/>
            <a:ext cx="3200400" cy="393192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4108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once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41080" y="22860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 -m venv .venv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torch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--index-url https://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download.pytorch.org/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whl/cpu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transformers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peft datasets accelerate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delta: add bitsandbytes, swap MODEL_NAME to nvidia/Nemotron Nano 4B, device_map=auto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proved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problems in agentic network operations, addressed by one 35 MB file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46120" y="1691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52360" y="16916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RUN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1247120" cy="786384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skills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46120" y="205740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fine-tune per task = $M and weeks. Frontier API call per decision = $ per resolved incident.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52360" y="2057400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MB adapter per task. Trained on a laptop, free. Cost per new skill drops 3-4 orders of magnitude.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843784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2843784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meant shipping training data to a hyperscaler GPU cluster. Non-starter for regulated networks.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52360" y="2843784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training loop runs on-prem, on commodity hardware. No data leaves the box. Adapter artifact never touches cloud.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30168"/>
            <a:ext cx="11247120" cy="786384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630168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Per-tenant customization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3630168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model, one shared behavior. Per-tenant tuning was bespoke engineering.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52360" y="3630168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base model in RAM, one lightweight adapter per tenant. Swap in milliseconds. SaaS multi-tenancy for model behavior.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416552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and audit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46120" y="4416552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outputs are opaque, non-deterministic, drift across releases. Hard to certify for TMF Level 4.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52360" y="4416552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proposes structured JSON. Python policy engine validates and gates every commit. Versioned, signable, rollback-able.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202936"/>
            <a:ext cx="11247120" cy="786384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5202936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model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46120" y="5202936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ships demos. Executives push back with 'how does this become a product?'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52360" y="5202936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= commodity. Skills = versioned adapters on a shelf. Runtime = generic server. Safety = deterministic wrapper. Shippable.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that make agentic network operations a product line, not a research demo.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3861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1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Right-size the model. Don't reach for a frontier LLM by default.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small task-tuned model, served locally, is often the right tool for a POC. Faster, cheaper, private, and good enough. This is the pattern and the vocabulary for doing it well.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1064240" cy="13716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Proven on the crowd-following beam rApp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0.5B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4407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DB8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params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81528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~9M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081528" y="4407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DB8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trained (LoRA), 1.75%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94376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4-bit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294376" y="4407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DB8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quantized for serving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07224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~0.7s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07224" y="4407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DB8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warm CPU inference, was ~4.6s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20072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720072" y="4407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DB8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token cost, fully local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C86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Sireen Malik  |  Autonomous Networks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When a small model is the right call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5B6B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model to the task, not to the hype. Most POC tasks are narrow and structured.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32120" cy="4297680"/>
          </a:xfrm>
          <a:prstGeom prst="rect">
            <a:avLst/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Reach for a small task-tuned model when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narrow and well-defined (one skill, fixed schema)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8757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28757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Output is structured (JSON, classification, extraction, routing)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33741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33741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 need low latency in a control or edge loop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38724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" y="387248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Cost per call must be near zero at high volume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43708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4370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must stay on-prem or on-device (sovereign, private)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48691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48691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 want deterministic, repeatable behavior you can gate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53675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5367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It is a POC and you need to move fast on cheap hardware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1600200"/>
            <a:ext cx="5532120" cy="4297680"/>
          </a:xfrm>
          <a:prstGeom prst="rect">
            <a:avLst/>
          </a:prstGeom>
          <a:solidFill>
            <a:srgbClr val="F4F7FC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18288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Reserve a frontier model for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3796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5800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reasoning over novel, unseen situations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3796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5800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Broad world knowledge or long-context synthesis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37960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58000" y="3474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correlation the small model was never trained 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37960" y="4023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5800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hard cases a tiered system escalates to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92240" y="475488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tiered inference. Small task-tuned models carry the high-frequency structured work; frontier models handle the long tail of novel reasoning. Route by task, not by default.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vocabulary, said the way the industry says it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5B6B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 the team speaks the same language as the papers, the model cards, and the tooling.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Base / foundation model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pretrained model you start from. Frozen. Example: Qwen2.5-0.5B-Instruct.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450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70662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Adapting a base model to a task by training on task data. Full fine-tuning updates all weights.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346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PEFT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60273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Fine-Tuning. Train a tiny fraction of parameters instead of all of them.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242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LoRA adapter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449884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Low-Rank Adaptation. The PEFT method here. Learns two small matrices (A, B) as a side-path; base stays frozen. Ships as a ~35MB adapter, not a new full model.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5413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Rank (r) and alpha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566928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Rank sizes the adapter (r=16 here). Alpha scales its contribution (alpha/r). Higher rank = more capacity, larger adapter.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63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63640" y="181051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Fold the adapter into the base weights: W + (B·A)·(alpha/r). Produces one self-contained model. Structural, not lossy.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63640" y="25237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63640" y="277977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Store weights at lower precision (FP32 → 4-bit). ~8x smaller, much faster. GGUF is the file format; q4_K_M is a common scheme.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63640" y="3493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server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63640" y="374904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model over an API. Ollama and vLLM expose OpenAI-compatible endpoints so app code is provider-agnostic.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63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Tiered inference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63640" y="464515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Small tuned models for routine structured tasks; frontier models for novel reasoning. Route per task.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63640" y="5285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Multi-LoRA serving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63640" y="554126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base in memory, many adapters swapped per request. The 'adapter library' pattern for many skills on shared infrastructure.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POC pipeline, end to end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5B6B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from a stock base model to a fast, local, task-tuned endpoint. All on a laptop.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274320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Select base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4ED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Pick a small instruct model sized to the task. Qwen2.5-0.5B here.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816352" y="1600200"/>
            <a:ext cx="2084832" cy="274320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999232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999232" y="24231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PEFT / LoRA train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999232" y="306324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4ED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 a low-rank adapter on task data. Base frozen, ~1.75% of params updated. Minutes on CPU.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84064" y="1600200"/>
            <a:ext cx="2084832" cy="27432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66944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66944" y="24231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66944" y="306324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4ED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Fold adapter into base: one self-contained model. W + (B·A)·scale.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51776" y="1600200"/>
            <a:ext cx="2084832" cy="27432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34656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34656" y="24231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Quantize (GGUF)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34656" y="306324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4ED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GGUF, quantize to 4-bit (q4_K_M). ~8x smaller, much faster.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619488" y="1600200"/>
            <a:ext cx="2084832" cy="2743200"/>
          </a:xfrm>
          <a:prstGeom prst="rect">
            <a:avLst/>
          </a:prstGeom>
          <a:solidFill>
            <a:srgbClr val="1B5E3F"/>
          </a:solidFill>
          <a:ln w="12700">
            <a:solidFill>
              <a:srgbClr val="1B5E3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802368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02368" y="24231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Serve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02368" y="306324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4ED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an inference server (Ollama). OpenAI-compatible endpoint. App points at it, provider-agnostic.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11247120" cy="9601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7240" y="47091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artifacts, two stories. 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Keep the unmerged adapter for the multi-LoRA 'library of skills on one base' pattern (cloud, multi-tenant). Keep the merged + quantized GGUF for the single-skill fast edge deployment. Merged is for serving one skill; unmerged is for swapping many.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57150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B6B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Steps 3 and 4 are for speed and packaging; they do not retrain or change what the model learned.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1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how we build POCs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1371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Default small, escalate deliberately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170078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smallest model that can do the task. Reach for frontier only when the task genuinely needs open-ended reasoning.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23042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LoRA is how we specialize cheaply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88720" y="26334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frozen base, a small adapter per use case. Train in minutes, ship ~35MB, no full retrain, no giant GPU bill.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236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88720" y="32369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Merge + quantize for the fast path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8720" y="35661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Collapse to one model and drop to 4-bit when you need production latency on modest hardware. Verify quality after quantizing.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4169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88720" y="416966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serving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88720" y="44988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endpoints mean the app never hard-codes a vendor. Swap Nemotron-in-the-cloud for Qwen-on-a-laptop by changing one env var.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5102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88720" y="51023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Local means private and free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88720" y="54315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inference: no token cost, no data egress, works offline. The unit economics that turn a demo into a product.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1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Big models are a tool, not a default. Right-sizing is an engineering decision we make on purpose.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still owe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 between this proof and a production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1031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92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at scale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synthetic ticks proved the pipeline. It did not prove skill on real crowd behavior across sectors, weather, and events.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real ticks from 3 sectors, quarterly refresh cadence, evaluation harness with held-out sets.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394960" cy="21031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1892808"/>
            <a:ext cx="457200" cy="45720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95160" y="1892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to novel inputs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26974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learned the synthetic pattern. Radial dispersal, sensor dropouts, and adversarial patterns will look novel.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detection features (radial spread, centroid velocity) added to input, plus a novelty router to escalate to the frontier model.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5394960" cy="21031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4224528"/>
            <a:ext cx="457200" cy="45720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2245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 safety story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7724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50292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exists in ORCA. Not yet integrated with this adapter's output path. No signed audit log yet.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623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5852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deterministic policy engine at commit, add per-action audit records to the object store, dry-run for 30 days before live commit.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4023360"/>
            <a:ext cx="5394960" cy="21031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0800" y="4224528"/>
            <a:ext cx="457200" cy="45720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95160" y="42245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TMF Level 4 certification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40080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50292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enabling infrastructure, not the audited product. TMF IG1253 and IG1326 alignment work still to do.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5623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5852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TMF autonomy levels, run the Level 4 assessment, evidence pack for operator security and compliance reviews.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these gaps is the path from proof of pipeline to shippable rApp.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1. White master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Nokia 2018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spcAft>
            <a:spcPts val="300"/>
          </a:spcAft>
          <a:buSzPct val="100000"/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72000" rIns="72000" bIns="72000" rtlCol="0">
        <a:noAutofit/>
      </a:bodyPr>
      <a:lstStyle>
        <a:defPPr algn="l">
          <a:spcAft>
            <a:spcPts val="300"/>
          </a:spcAft>
          <a:buSzPct val="100000"/>
          <a:defRPr sz="12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okia - Pure PowerPoint template 2021 v1.3" id="{83E57FD3-4D1E-4396-8750-91CCF5D75450}" vid="{B1A42757-A18C-4C6C-9F92-263C02514E6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4017</Words>
  <Application>Microsoft Office PowerPoint</Application>
  <PresentationFormat>Widescreen</PresentationFormat>
  <Paragraphs>463</Paragraphs>
  <Slides>24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Aptos</vt:lpstr>
      <vt:lpstr>Arial</vt:lpstr>
      <vt:lpstr>Calibri</vt:lpstr>
      <vt:lpstr>Cambria</vt:lpstr>
      <vt:lpstr>Consolas</vt:lpstr>
      <vt:lpstr>Courier New</vt:lpstr>
      <vt:lpstr>Nokia Pure Headline Light</vt:lpstr>
      <vt:lpstr>Nokia Pure Text</vt:lpstr>
      <vt:lpstr>Nokia Pure Text Light</vt:lpstr>
      <vt:lpstr>Office Theme</vt:lpstr>
      <vt:lpstr>2_1. White master</vt:lpstr>
      <vt:lpstr>think-cell Slide</vt:lpstr>
      <vt:lpstr>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Sireen Malik</cp:lastModifiedBy>
  <cp:revision>3</cp:revision>
  <dcterms:created xsi:type="dcterms:W3CDTF">2026-08-22T06:14:13Z</dcterms:created>
  <dcterms:modified xsi:type="dcterms:W3CDTF">2026-08-27T16:35:34Z</dcterms:modified>
</cp:coreProperties>
</file>