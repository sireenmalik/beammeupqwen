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71" r:id="rId12"/>
    <p:sldId id="266" r:id="rId13"/>
    <p:sldId id="267" r:id="rId14"/>
    <p:sldId id="268" r:id="rId15"/>
    <p:sldId id="269" r:id="rId16"/>
    <p:sldId id="270" r:id="rId17"/>
    <p:sldId id="26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3CDE4B-833B-4C17-8202-BABDA2FF16E3}" v="1" dt="2026-08-23T00:28:56.8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reen Malik" userId="192f65855cf53b52" providerId="LiveId" clId="{0889925D-3329-4123-A637-F2CDEEB3DA94}"/>
    <pc:docChg chg="addSld modSld">
      <pc:chgData name="Sireen Malik" userId="192f65855cf53b52" providerId="LiveId" clId="{0889925D-3329-4123-A637-F2CDEEB3DA94}" dt="2026-08-23T00:28:56.840" v="1"/>
      <pc:docMkLst>
        <pc:docMk/>
      </pc:docMkLst>
      <pc:sldChg chg="new">
        <pc:chgData name="Sireen Malik" userId="192f65855cf53b52" providerId="LiveId" clId="{0889925D-3329-4123-A637-F2CDEEB3DA94}" dt="2026-08-23T00:28:49.510" v="0" actId="680"/>
        <pc:sldMkLst>
          <pc:docMk/>
          <pc:sldMk cId="783861868" sldId="271"/>
        </pc:sldMkLst>
      </pc:sldChg>
      <pc:sldChg chg="add">
        <pc:chgData name="Sireen Malik" userId="192f65855cf53b52" providerId="LiveId" clId="{0889925D-3329-4123-A637-F2CDEEB3DA94}" dt="2026-08-23T00:28:56.840" v="1"/>
        <pc:sldMkLst>
          <pc:docMk/>
          <pc:sldMk cId="0" sldId="27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83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50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CROWD ANOMALY CUEING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Designed around the swarm-analytics patent, by construction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1" u="none" strike="noStrike" kern="1200" cap="none" spc="0" normalizeH="0" baseline="0" noProof="0" dirty="0">
                <a:ln>
                  <a:noFill/>
                </a:ln>
                <a:solidFill>
                  <a:srgbClr val="5B6B8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prior-art claim tracks device locations and auto-notifies responders. Our flow uses aggregate RAN telemetry, keeps a human in the loop, and acts first as coverage optimization.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074920" cy="384048"/>
          </a:xfrm>
          <a:prstGeom prst="rect">
            <a:avLst/>
          </a:prstGeom>
          <a:solidFill>
            <a:srgbClr val="8A2B24"/>
          </a:solidFill>
          <a:ln w="12700">
            <a:solidFill>
              <a:srgbClr val="8A2B2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PRIOR-ART PATENT  (US 10,032,361, swarm analytics)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806440" y="1737360"/>
            <a:ext cx="5943600" cy="384048"/>
          </a:xfrm>
          <a:prstGeom prst="rect">
            <a:avLst/>
          </a:prstGeom>
          <a:solidFill>
            <a:srgbClr val="1B5E3F"/>
          </a:solidFill>
          <a:ln w="12700">
            <a:solidFill>
              <a:srgbClr val="1B5E3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0" y="173736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  (Crowd Anomaly Cueing)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074920" cy="786384"/>
          </a:xfrm>
          <a:prstGeom prst="rect">
            <a:avLst/>
          </a:prstGeom>
          <a:solidFill>
            <a:srgbClr val="FBEBEA"/>
          </a:solidFill>
          <a:ln w="12700">
            <a:solidFill>
              <a:srgbClr val="FBEBE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8A2B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Ingest collective real-time device location data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806440" y="2194560"/>
            <a:ext cx="5943600" cy="786384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943600" y="2194560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Ingest aggregate RAN beam telemetry only: per-beam UE counts, centroid, spread. No device location tracking.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035808"/>
            <a:ext cx="5074920" cy="786384"/>
          </a:xfrm>
          <a:prstGeom prst="rect">
            <a:avLst/>
          </a:prstGeom>
          <a:solidFill>
            <a:srgbClr val="FBEBEA"/>
          </a:solidFill>
          <a:ln w="12700">
            <a:solidFill>
              <a:srgbClr val="FBEBE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3035808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8A2B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Detect movement of the group away from a central point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06440" y="3035808"/>
            <a:ext cx="5943600" cy="786384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943600" y="3035808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Detect an abnormal change in the count distribution across beams (spread rising, centroid velocity). A shape change, not device motion from a point.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5074920" cy="786384"/>
          </a:xfrm>
          <a:prstGeom prst="rect">
            <a:avLst/>
          </a:prstGeom>
          <a:solidFill>
            <a:srgbClr val="FBEBEA"/>
          </a:solidFill>
          <a:ln w="12700">
            <a:solidFill>
              <a:srgbClr val="FBEBE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5800" y="3877056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8A2B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pattern as a threat condition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806440" y="3877056"/>
            <a:ext cx="5943600" cy="786384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943600" y="3877056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Do not classify as a threat. Flag an anomaly only. The network sees an effect, never claims a cause.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8640" y="4718304"/>
            <a:ext cx="5074920" cy="786384"/>
          </a:xfrm>
          <a:prstGeom prst="rect">
            <a:avLst/>
          </a:prstGeom>
          <a:solidFill>
            <a:srgbClr val="FBEBEA"/>
          </a:solidFill>
          <a:ln w="12700">
            <a:solidFill>
              <a:srgbClr val="FBEBE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718304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8A2B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notify a first responder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06440" y="4718304"/>
            <a:ext cx="5943600" cy="786384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943600" y="4718304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Raise an advisory flag to the network operator, and cue a camera. Human verifies. Never auto-notifies a responder, never auto-dispatches.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5559552"/>
            <a:ext cx="5074920" cy="566928"/>
          </a:xfrm>
          <a:prstGeom prst="rect">
            <a:avLst/>
          </a:prstGeom>
          <a:solidFill>
            <a:srgbClr val="F4F4F6"/>
          </a:solidFill>
          <a:ln w="12700">
            <a:solidFill>
              <a:srgbClr val="F4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5800" y="5559552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9AA3B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(no equivalent step)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806440" y="5559552"/>
            <a:ext cx="5943600" cy="566928"/>
          </a:xfrm>
          <a:prstGeom prst="rect">
            <a:avLst/>
          </a:prstGeom>
          <a:solidFill>
            <a:srgbClr val="FBF3E2"/>
          </a:solidFill>
          <a:ln w="12700">
            <a:solidFill>
              <a:srgbClr val="FBF3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43600" y="555955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8A5A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Primary action is coverage assurance: widen or re-steer beams (O-RAN A1/O1 intent) to keep the dispersing crowd connected. A network-optimization action, outside the patent's scope entirely.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6254496"/>
            <a:ext cx="11201400" cy="658368"/>
          </a:xfrm>
          <a:prstGeom prst="rect">
            <a:avLst/>
          </a:prstGeom>
          <a:solidFill>
            <a:srgbClr val="071E44"/>
          </a:solidFill>
          <a:ln w="12700">
            <a:solidFill>
              <a:srgbClr val="071E4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77240" y="6327648"/>
            <a:ext cx="10744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For legal review: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input is aggregate RAN telemetry, not device-location data; confirm actuation is operator-advisory plus coverage optimization, never auto-notification of a responder. Not an FTO opinion, run the actual claims past Nokia IP before build or external pitch.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41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build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fine-tune on a laptop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 0.5B model to steer uplink beams as JSON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3474720" cy="2011680"/>
          </a:xfrm>
          <a:prstGeom prst="rect">
            <a:avLst/>
          </a:prstGeom>
          <a:solidFill>
            <a:srgbClr val="1A5AB0"/>
          </a:solidFill>
          <a:ln w="12700">
            <a:solidFill>
              <a:srgbClr val="1A5A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params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3840480"/>
            <a:ext cx="3474720" cy="2011680"/>
          </a:xfrm>
          <a:prstGeom prst="rect">
            <a:avLst/>
          </a:prstGeom>
          <a:solidFill>
            <a:srgbClr val="1A5AB0"/>
          </a:solidFill>
          <a:ln w="12700">
            <a:solidFill>
              <a:srgbClr val="1A5A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0" y="40233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1-2%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38912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via LoRA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40480"/>
            <a:ext cx="3474720" cy="2011680"/>
          </a:xfrm>
          <a:prstGeom prst="rect">
            <a:avLst/>
          </a:prstGeom>
          <a:solidFill>
            <a:srgbClr val="1A5AB0"/>
          </a:solidFill>
          <a:ln w="12700">
            <a:solidFill>
              <a:srgbClr val="1A5A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0" y="40233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22960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GPU, no cloud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Sireen Malik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6309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1 of 2  |  Nemotron Nano 4B on GPU is Path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training for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Crowd-following uplink beam management rApp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20624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sector has 5 uplink beams pointed at fixed azimuths. Per-beam UE counts arrive every second. The rApp must decide where to point the fan next, and when to widen or split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20624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63440" y="1965960"/>
            <a:ext cx="502920" cy="50292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49240" y="1965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26974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base model into a rApp that reads per-beam counts and emits one JSON object: fan_center, tilt, action, reason. Nothing else. Every second. Deterministic.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1737360"/>
            <a:ext cx="3566160" cy="420624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03920" y="1965960"/>
            <a:ext cx="502920" cy="50292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039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89720" y="1965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success test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03920" y="26974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tick, the trained model returns valid JSON, within schema bounds, matching the count-weighted centroid. Formatter tool stays on as the safety net either way.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is one second cadence, temperature 0. Loop stays gated by a Python policy engine.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open source, everything runs on a dual core CPU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680960" cy="658368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68880" y="18288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Qwen2.5-0.5B-Instruct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57800" y="182880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2.0, 494M params, chat template built 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48716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method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68880" y="24871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LoRA via HuggingFace peft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57800" y="2487168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1-2% params train, adapter is tens of MB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45536"/>
            <a:ext cx="7680960" cy="658368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314553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8880" y="314553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PyTorch 2.x, CPU wheel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57800" y="3145536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GPU, no bitsandbytes, no cloud API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80390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68880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transformers.Trainer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380390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use_cpu=True, fp32, standard causal LM loop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462272"/>
            <a:ext cx="7680960" cy="658368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446227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68880" y="446227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datasets.Dataset.from_list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446227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JSONs -&gt; chat examples -&gt; tokenized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68880" y="51206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adapter_model.safetensors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512064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on top of base model at inference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03920" y="1828800"/>
            <a:ext cx="3200400" cy="3931920"/>
          </a:xfrm>
          <a:prstGeom prst="rect">
            <a:avLst/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41080" y="1920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once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64108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 -m venv .venv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.venv\Scripts\activate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torch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--index-url https://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download.pytorch.org/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whl/cpu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transformers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peft datasets accelerate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2 delta: add bitsandbytes, swap MODEL_NAME to nvidia/Nemotron Nano 4B, device_map=auto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learns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tick becomes a 3 turn chat: rules, counts, answer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132320" cy="141732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on every tick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Non-RT RIC rApp steering a fan of uplink beams to follow a moving crowd. You are given per-beam UE counts and the current beam config. Return ONLY one JSON object with keys: fan_center (-49..49), tilt (3..45), action (follow|widen|allocate), reason (short). No prose, no thinking, JSON only.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7132320" cy="105156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33832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tick input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7490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per_beam_counts=[1, 4, 12, 6, 2] (beam azimuths [-40, -20, 0, 20, 40] deg); current fan_center=0, tilt=20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7132320" cy="123444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4572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4572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the model learns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93776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{"fan_center": 0, "tilt": 25, "action": "follow", "reason": "leading the crowd toward the count-weighted centroid"}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552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config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55280" y="2148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4692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955280" y="24414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lora_alpha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46920" y="2441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55280" y="2734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lora_dropout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46920" y="2734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955280" y="30266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bias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46920" y="30266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55280" y="3319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task_type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46920" y="3319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CAUSAL_LM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5528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target_modules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46920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q,k,v,o + MLP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args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95528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46920" y="4434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55280" y="47274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batch_size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646920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280" y="5020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grad_accum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46920" y="5020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55280" y="53126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46920" y="53126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2e-4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55280" y="5605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max_len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46920" y="5605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955280" y="5897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41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use_cpu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646920" y="5897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apply_chat_template renders the 3 messages into Qwen ChatML, tokenized as one causal LM sequence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adapter fits in the rApp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Non-determinism fenced inside a Python tool boundary. SMO only sees clamped numbers.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828800"/>
            <a:ext cx="2926080" cy="365760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2.5 + LoRA adapter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per-beam counts.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a values envelope in JSON: fan_center, tilt, action, reason.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inference per tick.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speaks to SMO.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80560" y="1828800"/>
            <a:ext cx="3657600" cy="3657600"/>
          </a:xfrm>
          <a:prstGeom prst="rect">
            <a:avLst/>
          </a:prstGeom>
          <a:solidFill>
            <a:srgbClr val="0F3B7A"/>
          </a:solidFill>
          <a:ln w="12700">
            <a:solidFill>
              <a:srgbClr val="0F3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63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TOOL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331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formatter + policy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880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Validates, cages, formats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3273552"/>
            <a:ext cx="256032" cy="256032"/>
          </a:xfrm>
          <a:prstGeom prst="ellipse">
            <a:avLst/>
          </a:prstGeom>
          <a:solidFill>
            <a:srgbClr val="00B0FF"/>
          </a:solidFill>
          <a:ln w="12700">
            <a:solidFill>
              <a:srgbClr val="00B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83480" y="324612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JSON, reject if malformed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602736"/>
            <a:ext cx="256032" cy="256032"/>
          </a:xfrm>
          <a:prstGeom prst="ellipse">
            <a:avLst/>
          </a:prstGeom>
          <a:solidFill>
            <a:srgbClr val="00B0FF"/>
          </a:solidFill>
          <a:ln w="12700">
            <a:solidFill>
              <a:srgbClr val="00B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83480" y="357530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check, reject unknown keys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931920"/>
            <a:ext cx="256032" cy="256032"/>
          </a:xfrm>
          <a:prstGeom prst="ellipse">
            <a:avLst/>
          </a:prstGeom>
          <a:solidFill>
            <a:srgbClr val="00B0FF"/>
          </a:solidFill>
          <a:ln w="12700">
            <a:solidFill>
              <a:srgbClr val="00B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63440" y="3931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904488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fan_center to -49..49, tilt to 3..45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4261104"/>
            <a:ext cx="256032" cy="256032"/>
          </a:xfrm>
          <a:prstGeom prst="ellipse">
            <a:avLst/>
          </a:prstGeom>
          <a:solidFill>
            <a:srgbClr val="00B0FF"/>
          </a:solidFill>
          <a:ln w="12700">
            <a:solidFill>
              <a:srgbClr val="00B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4261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42336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smooth trajectory (smoothing only)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4590288"/>
            <a:ext cx="256032" cy="256032"/>
          </a:xfrm>
          <a:prstGeom prst="ellipse">
            <a:avLst/>
          </a:prstGeom>
          <a:solidFill>
            <a:srgbClr val="00B0FF"/>
          </a:solidFill>
          <a:ln w="12700">
            <a:solidFill>
              <a:srgbClr val="00B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45902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4562856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reason into audit log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4919472"/>
            <a:ext cx="256032" cy="256032"/>
          </a:xfrm>
          <a:prstGeom prst="ellipse">
            <a:avLst/>
          </a:prstGeom>
          <a:solidFill>
            <a:srgbClr val="00B0FF"/>
          </a:solidFill>
          <a:ln w="12700">
            <a:solidFill>
              <a:srgbClr val="00B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0" y="4919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48920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SMO wire JSON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326880" y="1828800"/>
            <a:ext cx="2651760" cy="365760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50976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509760" y="2331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Management + Orchestration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50976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509760" y="3429000"/>
            <a:ext cx="2286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clamped numeric setpoints in the wire contract (A1, O1, or R1).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sees LLM output.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sees the reason field.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sees non-deterministic text.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383280" y="3657600"/>
            <a:ext cx="1005840" cy="0"/>
          </a:xfrm>
          <a:prstGeom prst="line">
            <a:avLst/>
          </a:prstGeom>
          <a:noFill/>
          <a:ln w="38100">
            <a:solidFill>
              <a:srgbClr val="12419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291840" y="3200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envelope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291840" y="3840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(internal)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229600" y="3657600"/>
            <a:ext cx="1005840" cy="0"/>
          </a:xfrm>
          <a:prstGeom prst="line">
            <a:avLst/>
          </a:prstGeom>
          <a:noFill/>
          <a:ln w="38100">
            <a:solidFill>
              <a:srgbClr val="12419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138160" y="3200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 wire JSON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38160" y="3840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(numbers only)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proposes values inside a Python tool boundary. The tool builds every wire message that hits SMO. Non-determinism never leaves the tool.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base model was not enough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knew the concept. It could not hold the contract.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1920240"/>
          </a:xfrm>
          <a:prstGeom prst="rect">
            <a:avLst/>
          </a:prstGeom>
          <a:solidFill>
            <a:srgbClr val="FCEBEA"/>
          </a:solidFill>
          <a:ln w="12700">
            <a:solidFill>
              <a:srgbClr val="FCEB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QWEN, PROMPTED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Based on the beam counts, I think the crowd is moving to the right, so we should shift the fan. Here you go: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{"beam_target": 40, "reason": "move towards crowd"}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486400" cy="1920240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+ LoRA, VALUES ENVELOPE TO TOOL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{"fan_center": 40, "tilt": 25, "action": "follow", "reason": "leading the crowd toward the count-weighted centroid"}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0" y="33375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clamps, drops reason, formats to SMO wire.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247120" cy="475488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88620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388620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wraps JSON in prose. Adapter emits JSON only, every time.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36168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436168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invents keys (beam_target). Adapter locks in exact schema (fan_center, tilt, action, reason).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37176"/>
            <a:ext cx="11247120" cy="475488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483717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ranges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17520" y="483717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has no idea about -49..49 or 3..45 bounds. Adapter stays in-range.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312664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5312664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outputs vary per call, even at temperature 0. Adapter emits the same shape reliably.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788152"/>
            <a:ext cx="11247120" cy="475488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578815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Latency+cost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17520" y="5788152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API call: ~500 ms and $. Local Qwen + adapter, FP4 quantized: ~0.7 s warm, zero marginal cost.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gets you 70%. LoRA bakes the last 30% into the weights, so it holds at 1 second cadence.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proved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problems in agentic network operations, addressed by one 35 MB file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4612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5236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THIS RUN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1247120" cy="786384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skills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46120" y="2057400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fine-tune per task = $M and weeks. Frontier API call per decision = $ per resolved incident.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52360" y="2057400"/>
            <a:ext cx="4251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MB adapter per task. Trained on a laptop, free. Cost per new skill drops 3-4 orders of magnitude.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843784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Sovereignty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46120" y="284378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meant shipping training data to a hyperscaler GPU cluster. Non-starter for regulated networks.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52360" y="2843784"/>
            <a:ext cx="4251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training loop runs on-prem, on commodity hardware. No data leaves the box. Adapter artifact never touches cloud.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30168"/>
            <a:ext cx="11247120" cy="786384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630168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Per-tenant customization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46120" y="3630168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model, one shared behavior. Per-tenant tuning was bespoke engineering.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52360" y="3630168"/>
            <a:ext cx="4251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base model in RAM, one lightweight adapter per tenant. Swap in milliseconds. SaaS multi-tenancy for model behavior.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4416552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audit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46120" y="441655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outputs are opaque, non-deterministic, drift across releases. Hard to certify for TMF Level 4.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52360" y="4416552"/>
            <a:ext cx="4251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proposes structured JSON. Python policy engine validates and gates every commit. Versioned, signable, rollback-able.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202936"/>
            <a:ext cx="11247120" cy="786384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5202936"/>
            <a:ext cx="2514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Operating model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46120" y="5202936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ships demos. Executives push back with 'how does this become a product?'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52360" y="5202936"/>
            <a:ext cx="4251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= commodity. Skills = versioned adapters on a shelf. Runtime = generic server. Safety = deterministic wrapper. Shippable.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that make agentic network operations a product line, not a research demo.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edge model fast: two different operations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changes the structure. Quantize changes the precision. They solve different problems.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320040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two pieces into 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STRUCTURE, not speed.
</a:t>
            </a:r>
            <a:r>
              <a:rPr lang="en-US" sz="125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100" dirty="0">
                <a:solidFill>
                  <a:srgbClr val="0B1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Before:  Qwen base  +  beam-lora adapter  =  2 files
After:   one combined model  =  1 file
</a:t>
            </a:r>
            <a:r>
              <a:rPr lang="en-US" sz="125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Precision unchanged. Size roughly the same. Does NOT retrain. Folds the adapter's math permanently into the base weights.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532120" cy="3200400"/>
          </a:xfrm>
          <a:prstGeom prst="rect">
            <a:avLst/>
          </a:prstGeom>
          <a:solidFill>
            <a:srgbClr val="0F3B7A"/>
          </a:solidFill>
          <a:ln w="12700">
            <a:solidFill>
              <a:srgbClr val="0F3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37960" y="17830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Quantize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37960" y="26060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every number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7960" y="297180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PRECISION, not structure.
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100" dirty="0">
                <a:solidFill>
                  <a:srgbClr val="D6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Before:  each weight stored in 32 bits (FP32)
After:   each weight stored in 4 bits  (FP4)
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25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unchanged, still one model, same knowledge. 8x smaller. Does NOT retrain. Re-encodes the finished numbers at lower precision.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247120" cy="1005840"/>
          </a:xfrm>
          <a:prstGeom prst="rect">
            <a:avLst/>
          </a:prstGeom>
          <a:solidFill>
            <a:srgbClr val="F4F7FC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5138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Analogy.  </a:t>
            </a:r>
            <a:r>
              <a:rPr lang="en-US" sz="13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presses a sandwich (bread + filling) into one wrapped unit, same ingredients, one object. Quantize then vacuum-seals it to one-eighth the size, same sandwich, compact and fast to carry. Merge is the prep; quantize is the payoff.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operation retrains the model or changes what it knows. The trained skill in the LoRA adapter is preserved through both.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 this for the beam rApp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rApp decides every tick. Inference latency is the whole game at the edge.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 today, and after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486400" cy="914400"/>
          </a:xfrm>
          <a:prstGeom prst="rect">
            <a:avLst/>
          </a:prstGeom>
          <a:solidFill>
            <a:srgbClr val="FCEBEA"/>
          </a:solidFill>
          <a:ln w="12700">
            <a:solidFill>
              <a:srgbClr val="FCEB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on PyTorch (serve.py)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~4.6 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56616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slower than tick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990088"/>
            <a:ext cx="5486400" cy="914400"/>
          </a:xfrm>
          <a:prstGeom prst="rect">
            <a:avLst/>
          </a:prstGeom>
          <a:solidFill>
            <a:srgbClr val="FBF3E2"/>
          </a:solidFill>
          <a:ln w="12700">
            <a:solidFill>
              <a:srgbClr val="FBF3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309981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 on Ollama, cold start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4015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~2.4 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6616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call, model loads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5486400" cy="914400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23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 on Ollama, warm (steady)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442569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~0.7 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566160" y="442569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every tick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1508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 here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0" y="19659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loop cadence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2402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rApp proposes a beam setpoint every tick. If inference is slower than the tick, the beam always acts on stale crowd positions and visibly lags.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0" y="2990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Edge, not 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26440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point of this build is on-device, zero token cost. A CPU laptop has no GPU to hide behind, so precision is the lever that buys speed.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40142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decision stays zero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428853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Quantizing keeps everything local. No API, no per-token spend. Faster AND free, versus a frontier API that is fast but metered.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0" y="503834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skill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531266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beam-following behavior lives in the adapter. Merge and quantize preserve it. We get speed without giving up the tuning.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5806440"/>
            <a:ext cx="11247120" cy="685800"/>
          </a:xfrm>
          <a:prstGeom prst="rect">
            <a:avLst/>
          </a:prstGeom>
          <a:solidFill>
            <a:srgbClr val="0F3B7A"/>
          </a:solidFill>
          <a:ln w="12700">
            <a:solidFill>
              <a:srgbClr val="0F3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7724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line.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then quantize took inference from ~4.6 s to ~0.7 s warm, a measured 6 to 7x speedup, all on a laptop CPU with zero token cost. Same trained model, production-fast.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61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41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40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practice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Right-size the model. Don't reach for a frontier LLM by default.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small task-tuned model, served locally, is often the right tool for a POC. Faster, cheaper, private, and good enough. This is the pattern and the vocabulary for doing it well.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11064240" cy="1371600"/>
          </a:xfrm>
          <a:prstGeom prst="rect">
            <a:avLst/>
          </a:prstGeom>
          <a:solidFill>
            <a:srgbClr val="0F3B7A"/>
          </a:solidFill>
          <a:ln w="12700">
            <a:solidFill>
              <a:srgbClr val="0F3B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35204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crowd-following beam rApp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6868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0.5B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80" y="44074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9DB8D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params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081528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~9M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081528" y="44074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9DB8D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trained (LoRA), 1.75%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294376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4-bit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294376" y="44074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9DB8D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quantized for serving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507224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~0.7s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507224" y="44074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9DB8D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warm CPU inference, was ~4.6s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720072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20072" y="44074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9DB8D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token cost, fully local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C86A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Sireen Malik  |  Autonomous Networks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When a small model is the right call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1" u="none" strike="noStrike" kern="1200" cap="none" spc="0" normalizeH="0" baseline="0" noProof="0" dirty="0">
                <a:ln>
                  <a:noFill/>
                </a:ln>
                <a:solidFill>
                  <a:srgbClr val="5B6B8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model to the task, not to the hype. Most POC tasks are narrow and structured.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32120" cy="4297680"/>
          </a:xfrm>
          <a:prstGeom prst="rect">
            <a:avLst/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Reach for a small task-tuned model when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4300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task is narrow and well-defined (one skill, fixed schema)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28757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43000" y="28757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Output is structured (JSON, classification, extraction, routing)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33741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43000" y="33741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need low latency in a control or edge loop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22960" y="38724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38724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Cost per call must be near zero at high volume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2960" y="43708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43000" y="4370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must stay on-prem or on-device (sovereign, private)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22960" y="48691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43000" y="48691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want deterministic, repeatable behavior you can gate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53675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B5E3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43000" y="5367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It is a POC and you need to move fast on cheap hardware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63640" y="1600200"/>
            <a:ext cx="5532120" cy="4297680"/>
          </a:xfrm>
          <a:prstGeom prst="rect">
            <a:avLst/>
          </a:prstGeom>
          <a:solidFill>
            <a:srgbClr val="F4F7FC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92240" y="182880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Reserve a frontier model for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3796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reasoning over novel, unseen situations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3796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Broad world knowledge or long-context synthesis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53796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5800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Multi-domain correlation the small model was never trained 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53796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58000" y="4023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hard cases a tiered system escalates to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492240" y="47548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tiered inference. Small task-tuned models carry the high-frequency structured work; frontier models handle the long tail of novel reasoning. Route by task, not by default.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vocabulary, said the way the industry says it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1" u="none" strike="noStrike" kern="1200" cap="none" spc="0" normalizeH="0" baseline="0" noProof="0" dirty="0">
                <a:ln>
                  <a:noFill/>
                </a:ln>
                <a:solidFill>
                  <a:srgbClr val="5B6B8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So the team speaks the same language as the papers, the model cards, and the tooling.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Base / foundation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pretrained model you start from. Frozen. Example: Qwen2.5-0.5B-Instruct.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2450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70662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Adapting a base model to a task by training on task data. Full fine-tuning updates all weights.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346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PEFT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60273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Fine-Tuning. Train a tiny fraction of parameters instead of all of them.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42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49884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Low-Rank Adaptation. The PEFT method here. Learns two small matrices (A, B) as a side-path; base stays frozen. Ships as a ~35MB adapter, not a new full model.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5413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Rank (r) and alpha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8640" y="566928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Rank sizes the adapter (r=16 here). Alpha scales its contribution (alpha/r). Higher rank = more capacity, larger adapter.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263640" y="181051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Fold the adapter into the base weights: W + (B·A)·(alpha/r). Produces one self-contained model. Structural, not lossy.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63640" y="2523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63640" y="277977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Store weights at lower precision (FP32 → 4-bit). ~8x smaller, much faster. GGUF is the file format; q4_K_M is a common scheme.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63640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server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63640" y="374904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model over an API. Ollama and vLLM expose OpenAI-compatible endpoints so app code is provider-agnostic.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63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Tiered inference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63640" y="464515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Small tuned models for routine structured tasks; frontier models for novel reasoning. Route per task.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63640" y="52852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Multi-LoRA serving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63640" y="55412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base in memory, many adapters swapped per request. The 'adapter library' pattern for many skills on shared infrastructure.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The POC pipeline, end to end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1" u="none" strike="noStrike" kern="1200" cap="none" spc="0" normalizeH="0" baseline="0" noProof="0" dirty="0">
                <a:ln>
                  <a:noFill/>
                </a:ln>
                <a:solidFill>
                  <a:srgbClr val="5B6B8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Five steps from a stock base model to a fast, local, task-tuned endpoint. All on a laptop.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84832" cy="2743200"/>
          </a:xfrm>
          <a:prstGeom prst="rect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Select base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4EDF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instruct model sized to the task. Qwen2.5-0.5B here.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816352" y="1600200"/>
            <a:ext cx="2084832" cy="2743200"/>
          </a:xfrm>
          <a:prstGeom prst="rect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2999232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99232" y="2423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PEFT / LoRA train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999232" y="30632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4EDF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Train a low-rank adapter on task data. Base frozen, ~1.75% of params updated. Minutes on CPU.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84064" y="1600200"/>
            <a:ext cx="2084832" cy="2743200"/>
          </a:xfrm>
          <a:prstGeom prst="rect">
            <a:avLst/>
          </a:prstGeom>
          <a:solidFill>
            <a:srgbClr val="0F3B7A"/>
          </a:solidFill>
          <a:ln w="12700">
            <a:solidFill>
              <a:srgbClr val="0F3B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66944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66944" y="2423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Merge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266944" y="30632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4EDF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Fold adapter into base: one self-contained model. W + (B·A)·scale.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51776" y="1600200"/>
            <a:ext cx="2084832" cy="2743200"/>
          </a:xfrm>
          <a:prstGeom prst="rect">
            <a:avLst/>
          </a:prstGeom>
          <a:solidFill>
            <a:srgbClr val="0F3B7A"/>
          </a:solidFill>
          <a:ln w="12700">
            <a:solidFill>
              <a:srgbClr val="0F3B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534656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534656" y="2423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Quantize (GGUF)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34656" y="30632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4EDF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GGUF, quantize to 4-bit (q4_K_M). ~8x smaller, much faster.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619488" y="1600200"/>
            <a:ext cx="2084832" cy="2743200"/>
          </a:xfrm>
          <a:prstGeom prst="rect">
            <a:avLst/>
          </a:prstGeom>
          <a:solidFill>
            <a:srgbClr val="1B5E3F"/>
          </a:solidFill>
          <a:ln w="12700">
            <a:solidFill>
              <a:srgbClr val="1B5E3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802368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02368" y="2423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802368" y="30632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4EDF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Register with an inference server (Ollama). OpenAI-compatible endpoint. App points at it, provider-agnostic.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11247120" cy="96012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7240" y="47091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12419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Two artifacts, two stories. 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B1E3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Keep the unmerged adapter for the multi-LoRA 'library of skills on one base' pattern (cloud, multi-tenant). Keep the merged + quantized GGUF for the single-skill fast edge deployment. Merged is for serving one skill; unmerged is for swapping many.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48640" y="57150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5B6B8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Steps 3 and 4 are for speed and packaging; they do not retrain or change what the model learned.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41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 for how we build POCs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88720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Default small, escalate deliberately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88720" y="170078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smallest model that can do the task. Reach for frontier only when the task genuinely needs open-ended reasoning.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2304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230428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LoRA is how we specialize cheaply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88720" y="263347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base, a small adapter per use case. Train in minutes, ship ~35MB, no full retrain, no giant GPU bill.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2369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88720" y="32369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Merge + quantize for the fast path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88720" y="35661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Collapse to one model and drop to 4-bit when you need production latency on modest hardware. Verify quality after quantizing.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88720" y="4169664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serving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88720" y="44988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endpoints mean the app never hard-codes a vendor. Swap Nemotron-in-the-cloud for Qwen-on-a-laptop by changing one env var.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5102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88720" y="51023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Local means private and free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88720" y="543153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inference: no token cost, no data egress, works offline. The unit economics that turn a demo into a product.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60807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1" u="none" strike="noStrike" kern="1200" cap="none" spc="0" normalizeH="0" baseline="0" noProof="0" dirty="0">
                <a:ln>
                  <a:noFill/>
                </a:ln>
                <a:solidFill>
                  <a:srgbClr val="00B0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Big models are a tool, not a default. Right-sizing is an engineering decision we make on purpose.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still owe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 between this proof and a production system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210312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92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at scale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synthetic ticks proved the pipeline. It did not prove skill on real crowd behavior across sectors, weather, and events.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3291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3520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real ticks from 3 sectors, quarterly refresh cadence, evaluation harness with held-out sets.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691640"/>
            <a:ext cx="5394960" cy="210312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0" y="1892808"/>
            <a:ext cx="457200" cy="45720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95160" y="1892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to novel inputs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learned the synthetic pattern. Radial dispersal, sensor dropouts, and adversarial patterns will look novel.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3291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0" y="3520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detection features (radial spread, centroid velocity) added to input, plus a novelty router to escalate to the frontier model.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5394960" cy="210312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77240" y="4224528"/>
            <a:ext cx="457200" cy="45720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 safety story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77240" y="4800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0292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exists in ORCA. Not yet integrated with this adapter's output path. No signed audit log yet.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5852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deterministic policy engine at commit, add per-action audit records to the object store, dry-run for 30 days before live commit.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023360"/>
            <a:ext cx="5394960" cy="2103120"/>
          </a:xfrm>
          <a:prstGeom prst="rect">
            <a:avLst/>
          </a:prstGeom>
          <a:solidFill>
            <a:srgbClr val="E7EEF9"/>
          </a:solidFill>
          <a:ln w="12700">
            <a:solidFill>
              <a:srgbClr val="E7EE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00800" y="4224528"/>
            <a:ext cx="457200" cy="457200"/>
          </a:xfrm>
          <a:prstGeom prst="ellipse">
            <a:avLst/>
          </a:prstGeom>
          <a:solidFill>
            <a:srgbClr val="124191"/>
          </a:solidFill>
          <a:ln w="12700">
            <a:solidFill>
              <a:srgbClr val="1241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99516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TMF Level 4 certification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400800" y="4800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50292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enabling infrastructure, not the audited product. TMF IG1253 and IG1326 alignment work still to do.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56235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B5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0" y="5852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TMF autonomy levels, run the Level 4 assessment, evidence pack for operator security and compliance reviews.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3550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241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these gaps is the path from proof of pipeline to shippable rApp.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3260</Words>
  <Application>Microsoft Office PowerPoint</Application>
  <PresentationFormat>Widescreen</PresentationFormat>
  <Paragraphs>368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Sireen Malik</cp:lastModifiedBy>
  <cp:revision>2</cp:revision>
  <dcterms:created xsi:type="dcterms:W3CDTF">2026-08-22T06:14:13Z</dcterms:created>
  <dcterms:modified xsi:type="dcterms:W3CDTF">2026-08-23T00:29:26Z</dcterms:modified>
</cp:coreProperties>
</file>